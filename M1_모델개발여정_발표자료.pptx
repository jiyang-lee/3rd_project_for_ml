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Balanced Accuracy</c:v>
                </c:pt>
              </c:strCache>
            </c:strRef>
          </c:tx>
          <c:spPr>
            <a:solidFill>
              <a:srgbClr val="065A82"/>
            </a:solidFill>
          </c:spPr>
          <c:cat>
            <c:strRef>
              <c:f>Sheet1!$A$2:$A$3</c:f>
              <c:strCache>
                <c:ptCount val="2"/>
                <c:pt idx="0">
                  <c:v>Dummy Classifier</c:v>
                </c:pt>
                <c:pt idx="1">
                  <c:v>Logistic (balanced)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</c:v>
                </c:pt>
                <c:pt idx="1">
                  <c:v>0.59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0891B2"/>
            </a:solidFill>
          </c:spPr>
          <c:cat>
            <c:strRef>
              <c:f>Sheet1!$A$2:$A$3</c:f>
              <c:strCache>
                <c:ptCount val="2"/>
                <c:pt idx="0">
                  <c:v>Dummy Classifier</c:v>
                </c:pt>
                <c:pt idx="1">
                  <c:v>Logistic (balanced)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0.0</c:v>
                </c:pt>
                <c:pt idx="1">
                  <c:v>0.6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M1 장애 예측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0">
                <a:solidFill>
                  <a:srgbClr val="94A3B8"/>
                </a:solidFill>
                <a:latin typeface="Calibri"/>
              </a:defRPr>
            </a:pPr>
            <a:r>
              <a:t>27개 실험의 여정과 최종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017520"/>
            <a:ext cx="18288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HeatGrid  |  지역난방 기계실 예지보전  |  M1 (Manufacturer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2026.06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결론 먼저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7680960" cy="640080"/>
          </a:xfrm>
          <a:prstGeom prst="roundRect">
            <a:avLst>
              <a:gd name="adj" fmla="val 100000"/>
            </a:avLst>
          </a:prstGeom>
          <a:solidFill>
            <a:srgbClr val="0E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CCFBF1"/>
                </a:solidFill>
                <a:latin typeface="Calibri"/>
              </a:defRPr>
            </a:pPr>
            <a:r>
              <a:t>"4분류 모델이 아니라, 계층형 운영 판단 정책이다."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468880" cy="2103120"/>
          </a:xfrm>
          <a:prstGeom prst="roundRect">
            <a:avLst>
              <a:gd name="adj" fmla="val 100000"/>
            </a:avLst>
          </a:prstGeom>
          <a:solidFill>
            <a:srgbClr val="0E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011680"/>
            <a:ext cx="164592" cy="16459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Fault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0891B2"/>
                </a:solidFill>
                <a:latin typeface="Calibri"/>
              </a:defRPr>
            </a:pPr>
            <a:r>
              <a:t>Recall 0.89  |  FPR 0.20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장애 55건 중 49건 탐지</a:t>
            </a:r>
            <a:br/>
            <a:r>
              <a:t>정상 35건 중 7건 오탐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828800"/>
            <a:ext cx="2468880" cy="2103120"/>
          </a:xfrm>
          <a:prstGeom prst="roundRect">
            <a:avLst>
              <a:gd name="adj" fmla="val 100000"/>
            </a:avLst>
          </a:prstGeom>
          <a:solidFill>
            <a:srgbClr val="0E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66160" y="2011680"/>
            <a:ext cx="164592" cy="16459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3317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0891B2"/>
                </a:solidFill>
                <a:latin typeface="Calibri"/>
              </a:defRPr>
            </a:pPr>
            <a:r>
              <a:t>사후 맥락 분류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6974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예측 대상이 아님</a:t>
            </a:r>
            <a:br/>
            <a:r>
              <a:t>post-event context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828800"/>
            <a:ext cx="2468880" cy="2103120"/>
          </a:xfrm>
          <a:prstGeom prst="roundRect">
            <a:avLst>
              <a:gd name="adj" fmla="val 100000"/>
            </a:avLst>
          </a:prstGeom>
          <a:solidFill>
            <a:srgbClr val="0E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2011680"/>
            <a:ext cx="164592" cy="16459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3317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0891B2"/>
                </a:solidFill>
                <a:latin typeface="Calibri"/>
              </a:defRPr>
            </a:pPr>
            <a:r>
              <a:t>보조 신호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6974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결측 패턴 의존</a:t>
            </a:r>
            <a:br/>
            <a:r>
              <a:t>missingness-sensitive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E293B"/>
                </a:solidFill>
                <a:latin typeface="Calibri"/>
              </a:defRPr>
            </a:pPr>
            <a:r>
              <a:t>"고객이 추위를 느끼기 전에 장애를 잡을 수 있는가?"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문제 정의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840480" cy="2926080"/>
          </a:xfrm>
          <a:prstGeom prst="roundRect">
            <a:avLst>
              <a:gd name="adj" fmla="val 100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DC2626"/>
                </a:solidFill>
                <a:latin typeface="Calibri"/>
              </a:defRPr>
            </a:pPr>
            <a:r>
              <a:t>현재: 사후 대응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고객이 추위를 느낀 후 신고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신고 접수 → 현장 출동 → 진단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장애 발생 후 수 시간~수 일 경과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운영자는 장애 인지 불가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3840480" cy="2926080"/>
          </a:xfrm>
          <a:prstGeom prst="roundRect">
            <a:avLst>
              <a:gd name="adj" fmla="val 10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417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59669"/>
                </a:solidFill>
                <a:latin typeface="Calibri"/>
              </a:defRPr>
            </a:pPr>
            <a:r>
              <a:t>목표: 선제 대응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82880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기계실 센서 데이터 기반 탐지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장애 3~7일 전 위험 신호 감지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위험도 기반 점검/출동 판단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운영자에게 구조화된 정보 제공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251960" y="2468880"/>
            <a:ext cx="640080" cy="36576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1E293B"/>
                </a:solidFill>
                <a:latin typeface="Calibri"/>
              </a:defRPr>
            </a:pPr>
            <a:r>
              <a:t>M1 데이터 현실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작은 데이터, 불균형 라벨에서 신뢰할 수 있는 모델을 만드는 것이 핵심 과제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2468880" cy="146304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463039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065A82"/>
                </a:solidFill>
                <a:latin typeface="Calibri"/>
              </a:defRPr>
            </a:pPr>
            <a: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240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정상 이벤트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280160"/>
            <a:ext cx="2468880" cy="146304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463039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DC2626"/>
                </a:solidFill>
                <a:latin typeface="Calibri"/>
              </a:defRPr>
            </a:pPr>
            <a:r>
              <a:t>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240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장애 이벤트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2468880" cy="146304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63039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D97706"/>
                </a:solidFill>
                <a:latin typeface="Calibri"/>
              </a:defRPr>
            </a:pPr>
            <a:r>
              <a:t>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40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작업(Task)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17520"/>
            <a:ext cx="2468880" cy="146304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2004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0891B2"/>
                </a:solidFill>
                <a:latin typeface="Calibri"/>
              </a:defRPr>
            </a:pPr>
            <a:r>
              <a:t>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977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활동(Activity)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3017520"/>
            <a:ext cx="2468880" cy="146304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32004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1E293B"/>
                </a:solidFill>
                <a:latin typeface="Calibri"/>
              </a:defRPr>
            </a:pPr>
            <a:r>
              <a:t>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977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기계실 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017520"/>
            <a:ext cx="2468880" cy="146304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2004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1E293B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977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센서 종류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1E293B"/>
                </a:solidFill>
                <a:latin typeface="Calibri"/>
              </a:defRPr>
            </a:pPr>
            <a:r>
              <a:t>27개 실험의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3단계로 나누면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651760" cy="301752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NB 1-13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E293B"/>
                </a:solidFill>
                <a:latin typeface="Calibri"/>
              </a:defRPr>
            </a:pPr>
            <a:r>
              <a:t>Normal vs Fault 분류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기본 신호 확인 → compact13 발견</a:t>
            </a:r>
            <a:br/>
            <a:r>
              <a:t>→ Fault Gate 확립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566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065A82"/>
                </a:solidFill>
                <a:latin typeface="Calibri"/>
              </a:defRPr>
            </a:pPr>
            <a:r>
              <a:t>BA 0.59 → 0.85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234440"/>
            <a:ext cx="2651760" cy="301752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37160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7373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NB 14-25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965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E293B"/>
                </a:solidFill>
                <a:latin typeface="Calibri"/>
              </a:defRPr>
            </a:pPr>
            <a:r>
              <a:t>4분류 시도 + 라벨 발견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3317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4분류 시도 → 라벨 의미 차이 발견</a:t>
            </a:r>
            <a:br/>
            <a:r>
              <a:t>→ 계층형 정책 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566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0891B2"/>
                </a:solidFill>
                <a:latin typeface="Calibri"/>
              </a:defRPr>
            </a:pPr>
            <a:r>
              <a:t>라벨 ≠ 같은 종류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234440"/>
            <a:ext cx="2651760" cy="301752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37160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7373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NB 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965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E293B"/>
                </a:solidFill>
                <a:latin typeface="Calibri"/>
              </a:defRPr>
            </a:pPr>
            <a:r>
              <a:t>최종 Recipe 적용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3317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13번 pre-event recipe를</a:t>
            </a:r>
            <a:br/>
            <a:r>
              <a:t>fault gate에 적용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566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059669"/>
                </a:solidFill>
                <a:latin typeface="Calibri"/>
              </a:defRPr>
            </a:pPr>
            <a:r>
              <a:t>최종 확정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108960" y="2468880"/>
            <a:ext cx="274320" cy="22860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5989320" y="2468880"/>
            <a:ext cx="274320" cy="22860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E293B"/>
                </a:solidFill>
                <a:latin typeface="Calibri"/>
              </a:defRPr>
            </a:pPr>
            <a:r>
              <a:t>출발점: 50건, 70 Feature (NB 3)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5029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5760720" y="1097280"/>
            <a:ext cx="2926080" cy="32004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1280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293B"/>
                </a:solidFill>
                <a:latin typeface="Calibri"/>
              </a:defRPr>
            </a:pPr>
            <a:r>
              <a:t>해석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64592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50건의 소규모 데이터</a:t>
            </a:r>
          </a:p>
          <a:p>
            <a:pPr>
              <a:spcAft>
                <a:spcPts val="600"/>
              </a:spcAft>
              <a:defRPr sz="11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70개 기본 feature (10센서 x 7통계)</a:t>
            </a:r>
          </a:p>
          <a:p>
            <a:pPr>
              <a:spcAft>
                <a:spcPts val="600"/>
              </a:spcAft>
              <a:defRPr sz="11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약한 신호는 존재</a:t>
            </a:r>
          </a:p>
          <a:p>
            <a:pPr>
              <a:spcAft>
                <a:spcPts val="600"/>
              </a:spcAft>
              <a:defRPr sz="11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하지만 아직 쓸 수 없는 수준</a:t>
            </a:r>
          </a:p>
          <a:p>
            <a:pPr>
              <a:spcAft>
                <a:spcPts val="600"/>
              </a:spcAft>
              <a:defRPr sz="11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→ Feature 확장/압축 필요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657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0891B2"/>
                </a:solidFill>
                <a:latin typeface="Calibri"/>
              </a:defRPr>
            </a:pPr>
            <a:r>
              <a:t>결정: Feature 확장 탐색 시작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E293B"/>
                </a:solidFill>
                <a:latin typeface="Calibri"/>
              </a:defRPr>
            </a:pPr>
            <a:r>
              <a:t>13개 Feature로 154개보다 낫다 (NB 8-9)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651760" cy="310896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64748B"/>
                </a:solidFill>
                <a:latin typeface="Calibri"/>
              </a:defRPr>
            </a:pPr>
            <a:r>
              <a:t>base 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1E293B"/>
                </a:solidFill>
                <a:latin typeface="Calibri"/>
              </a:defRPr>
            </a:pPr>
            <a:r>
              <a:t>BA 0.62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FPR 0.26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70개 기본 feature</a:t>
            </a:r>
            <a:br/>
            <a:r>
              <a:t>10센서 x 7통계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097280"/>
            <a:ext cx="2651760" cy="310896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234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97706"/>
                </a:solidFill>
                <a:latin typeface="Calibri"/>
              </a:defRPr>
            </a:pPr>
            <a:r>
              <a:t>expanded 154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1E293B"/>
                </a:solidFill>
                <a:latin typeface="Calibri"/>
              </a:defRPr>
            </a:pPr>
            <a:r>
              <a:t>BA 0.65 (+2.8%)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965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FPR 0.20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3774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+84개 파생 신호</a:t>
            </a:r>
            <a:br/>
            <a:r>
              <a:t>supply_error, return_gap 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97280"/>
            <a:ext cx="2651760" cy="310896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234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059669"/>
                </a:solidFill>
                <a:latin typeface="Calibri"/>
              </a:defRPr>
            </a:pPr>
            <a:r>
              <a:t>compact 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1E293B"/>
                </a:solidFill>
                <a:latin typeface="Calibri"/>
              </a:defRPr>
            </a:pPr>
            <a:r>
              <a:t>BA 0.83 (+18%)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65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FPR 0.06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774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핵심 13개만 선택</a:t>
            </a:r>
            <a:br/>
            <a:r>
              <a:t>92% feature 감소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0891B2"/>
                </a:solidFill>
                <a:latin typeface="Calibri"/>
              </a:defRPr>
            </a:pPr>
            <a:r>
              <a:t>핵심: Feature를 늘리는 것보다 핵심을 고르는 것이 낫다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E293B"/>
                </a:solidFill>
                <a:latin typeface="Calibri"/>
              </a:defRPr>
            </a:pPr>
            <a:r>
              <a:t>compact13이 핵심인 이유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572000" cy="347472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E293B"/>
                </a:solidFill>
                <a:latin typeface="Calibri"/>
              </a:defRPr>
            </a:pPr>
            <a:r>
              <a:t>선택된 13개 Feature 카테고리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4206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온도 관련: supply/return temp 통계 (mean, std, delta)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온도차: return_gap (공급-환수 온도차)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유량: flow rate 변동 (std, last_minus_first)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압력: pressure delta 변화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시간 변화: 12h/6h/1d 구간 delta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결측: missing_rate (데이터 품질 지표)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0" y="1097280"/>
            <a:ext cx="3383280" cy="3474720"/>
          </a:xfrm>
          <a:prstGeom prst="roundRect">
            <a:avLst>
              <a:gd name="adj" fmla="val 10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0" y="12344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059669"/>
                </a:solidFill>
                <a:latin typeface="Calibri"/>
              </a:defRPr>
            </a:pPr>
            <a:r>
              <a:t>왜 더 적은데 더 좋은가?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60020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노이즈 feature 제거 → 과적합 감소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물리적으로 의미 있는 신호에 집중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Fold 간 Jaccard 34~40% 안정성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해석 가능성 대폭 향상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운영자가 "왜 위험인지" 설명 가능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E293B"/>
                </a:solidFill>
                <a:latin typeface="Calibri"/>
              </a:defRPr>
            </a:pPr>
            <a:r>
              <a:t>안전성 검증 (NB 10-12)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compact13은 안전한가?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4023360" cy="146304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83280" y="1417319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1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E293B"/>
                </a:solidFill>
                <a:latin typeface="Calibri"/>
              </a:defRPr>
            </a:pPr>
            <a:r>
              <a:t>Data Leakage 검증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train/test에 같은 기계실 없음</a:t>
            </a:r>
            <a:br/>
            <a:r>
              <a:t>Substation Group CV 적용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280160"/>
            <a:ext cx="4023360" cy="146304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80960" y="1417319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확인 완료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41731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E293B"/>
                </a:solidFill>
                <a:latin typeface="Calibri"/>
              </a:defRPr>
            </a:pPr>
            <a:r>
              <a:t>Hard Normal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78308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정상인데 위험처럼 보이는 8건 식별</a:t>
            </a:r>
            <a:br/>
            <a:r>
              <a:t>Event 35/48: 구조적 어려운 정상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71800"/>
            <a:ext cx="4023360" cy="146304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310896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08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E293B"/>
                </a:solidFill>
                <a:latin typeface="Calibri"/>
              </a:defRPr>
            </a:pPr>
            <a:r>
              <a:t>Fold 안정성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747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compact13 Jaccard 34~40%</a:t>
            </a:r>
            <a:br/>
            <a:r>
              <a:t>Fold 간 feature 선택 안정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2971800"/>
            <a:ext cx="4023360" cy="146304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0" y="310896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108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E293B"/>
                </a:solidFill>
                <a:latin typeface="Calibri"/>
              </a:defRPr>
            </a:pPr>
            <a:r>
              <a:t>확장 학습 검증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4747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weak positive 12건 + 후보 normal 70건</a:t>
            </a:r>
            <a:br/>
            <a:r>
              <a:t>확장 후 BA +2.1% 개선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Fault Gate 확립 (NB 21)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0891B2"/>
                </a:solidFill>
                <a:latin typeface="Calibri"/>
              </a:defRPr>
            </a:pPr>
            <a:r>
              <a:t>compact13 + RandomForest (depth=3) + threshold 0.5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868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94A3B8"/>
                </a:solidFill>
                <a:latin typeface="Calibri"/>
              </a:defRPr>
            </a:pPr>
            <a:r>
              <a:t>모델 예측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188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위험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188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정상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9" y="16459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94A3B8"/>
                </a:solidFill>
                <a:latin typeface="Calibri"/>
              </a:defRPr>
            </a:pPr>
            <a:r>
              <a:t>실제</a:t>
            </a:r>
            <a:br/>
            <a:r>
              <a:t>장애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79" y="25603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94A3B8"/>
                </a:solidFill>
                <a:latin typeface="Calibri"/>
              </a:defRPr>
            </a:pPr>
            <a:r>
              <a:t>실제</a:t>
            </a:r>
            <a:br/>
            <a:r>
              <a:t>정상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600200"/>
            <a:ext cx="1280160" cy="822960"/>
          </a:xfrm>
          <a:prstGeom prst="roundRect">
            <a:avLst>
              <a:gd name="adj" fmla="val 100000"/>
            </a:avLst>
          </a:prstGeom>
          <a:solidFill>
            <a:srgbClr val="0E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16459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200" b="1">
                <a:solidFill>
                  <a:srgbClr val="059669"/>
                </a:solidFill>
                <a:latin typeface="Calibri"/>
              </a:defRPr>
            </a:pPr>
            <a:r>
              <a:t>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103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TP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1600200"/>
            <a:ext cx="1280160" cy="822960"/>
          </a:xfrm>
          <a:prstGeom prst="roundRect">
            <a:avLst>
              <a:gd name="adj" fmla="val 100000"/>
            </a:avLst>
          </a:prstGeom>
          <a:solidFill>
            <a:srgbClr val="0E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6459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200" b="1">
                <a:solidFill>
                  <a:srgbClr val="7F1D1D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103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FN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2514600"/>
            <a:ext cx="1280160" cy="822960"/>
          </a:xfrm>
          <a:prstGeom prst="roundRect">
            <a:avLst>
              <a:gd name="adj" fmla="val 100000"/>
            </a:avLst>
          </a:prstGeom>
          <a:solidFill>
            <a:srgbClr val="0E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2560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200" b="1">
                <a:solidFill>
                  <a:srgbClr val="D97706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017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FP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2514600"/>
            <a:ext cx="1280160" cy="822960"/>
          </a:xfrm>
          <a:prstGeom prst="roundRect">
            <a:avLst>
              <a:gd name="adj" fmla="val 100000"/>
            </a:avLst>
          </a:prstGeom>
          <a:solidFill>
            <a:srgbClr val="0E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2560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200" b="1">
                <a:solidFill>
                  <a:srgbClr val="065A82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017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TN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0" y="1188720"/>
            <a:ext cx="3383280" cy="2286000"/>
          </a:xfrm>
          <a:prstGeom prst="roundRect">
            <a:avLst>
              <a:gd name="adj" fmla="val 100000"/>
            </a:avLst>
          </a:prstGeom>
          <a:solidFill>
            <a:srgbClr val="0E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1325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94A3B8"/>
                </a:solidFill>
                <a:latin typeface="Calibri"/>
              </a:defRPr>
            </a:pPr>
            <a:r>
              <a:t>Recall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325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0891B2"/>
                </a:solidFill>
                <a:latin typeface="Calibri"/>
              </a:defRPr>
            </a:pPr>
            <a:r>
              <a:t>0.891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16002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55건 중 49건 탐지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2011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94A3B8"/>
                </a:solidFill>
                <a:latin typeface="Calibri"/>
              </a:defRPr>
            </a:pPr>
            <a:r>
              <a:t>FPR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011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0891B2"/>
                </a:solidFill>
                <a:latin typeface="Calibri"/>
              </a:defRPr>
            </a:pPr>
            <a:r>
              <a:t>0.200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22860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35건 중 7건 오탐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2697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94A3B8"/>
                </a:solidFill>
                <a:latin typeface="Calibri"/>
              </a:defRPr>
            </a:pPr>
            <a:r>
              <a:t>BA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697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0891B2"/>
                </a:solidFill>
                <a:latin typeface="Calibri"/>
              </a:defRPr>
            </a:pPr>
            <a:r>
              <a:t>0.845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29718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균형 정확도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CCFBF1"/>
                </a:solidFill>
                <a:latin typeface="Calibri"/>
              </a:defRPr>
            </a:pPr>
            <a:r>
              <a:t>"장애 10건이 발생하면 9건은 미리 경고. 다만 정상 5건 중 1건은 잘못 울림"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E293B"/>
                </a:solidFill>
                <a:latin typeface="Calibri"/>
              </a:defRPr>
            </a:pPr>
            <a:r>
              <a:t>다음 질문: 모든 이벤트를 분류할 수 있는가? (NB 16)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920240" cy="164592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" y="132588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065A82"/>
                </a:solidFill>
                <a:latin typeface="Calibri"/>
              </a:defRPr>
            </a:pPr>
            <a:r>
              <a:t>비교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23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정상 운영 구간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188720"/>
            <a:ext cx="1920240" cy="164592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91840" y="1325880"/>
            <a:ext cx="548640" cy="54864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965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19456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DC2626"/>
                </a:solidFill>
                <a:latin typeface="Calibri"/>
              </a:defRPr>
            </a:pPr>
            <a:r>
              <a:t>장애 위험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423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사전 탐지 대상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188720"/>
            <a:ext cx="1920240" cy="164592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40680" y="1325880"/>
            <a:ext cx="548640" cy="54864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1965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Task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19456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D97706"/>
                </a:solidFill>
                <a:latin typeface="Calibri"/>
              </a:defRPr>
            </a:pPr>
            <a:r>
              <a:t>작업/정비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423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정비 맥락 이벤트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20" y="1188720"/>
            <a:ext cx="1920240" cy="164592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89520" y="1325880"/>
            <a:ext cx="548640" cy="54864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1965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Activity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19456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0891B2"/>
                </a:solidFill>
                <a:latin typeface="Calibri"/>
              </a:defRPr>
            </a:pPr>
            <a:r>
              <a:t>활동 신호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423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운영 활동 이벤트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108960"/>
            <a:ext cx="8229600" cy="1463040"/>
          </a:xfrm>
          <a:prstGeom prst="roundRect">
            <a:avLst>
              <a:gd name="adj" fmla="val 100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24612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DC2626"/>
                </a:solidFill>
                <a:latin typeface="Calibri"/>
              </a:defRPr>
            </a:pPr>
            <a:r>
              <a:t>문제 발견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56616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4분류 단일 모델: Logistic BA 0.45 — 사실상 사용 불가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핵심 원인: 네 라벨의 '시간적 의미'가 서로 다르다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fault는 '사전 위험', task는 '사후 맥락', activity는 '결측 패턴 의존' — 같은 분류 모델로 묶을 수 없다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핵심 발견: 라벨은 같은 종류가 아니다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82296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36576" marB="36576">
                    <a:solidFill>
                      <a:srgbClr val="0E34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Fault</a:t>
                      </a:r>
                    </a:p>
                  </a:txBody>
                  <a:tcPr marL="73152" marR="73152" marT="36576" marB="36576">
                    <a:solidFill>
                      <a:srgbClr val="0E34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 marL="73152" marR="73152" marT="36576" marB="36576">
                    <a:solidFill>
                      <a:srgbClr val="0E34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Activity</a:t>
                      </a:r>
                    </a:p>
                  </a:txBody>
                  <a:tcPr marL="73152" marR="73152" marT="36576" marB="36576">
                    <a:solidFill>
                      <a:srgbClr val="0E346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시간적 의미</a:t>
                      </a:r>
                    </a:p>
                  </a:txBody>
                  <a:tcPr marL="73152" marR="73152" marT="36576" marB="36576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사전 위험 신호</a:t>
                      </a:r>
                    </a:p>
                  </a:txBody>
                  <a:tcPr marL="73152" marR="73152" marT="36576" marB="36576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사후 맥락</a:t>
                      </a:r>
                    </a:p>
                  </a:txBody>
                  <a:tcPr marL="73152" marR="73152" marT="36576" marB="36576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불확실</a:t>
                      </a:r>
                    </a:p>
                  </a:txBody>
                  <a:tcPr marL="73152" marR="73152" marT="36576" marB="36576">
                    <a:solidFill>
                      <a:srgbClr val="1A27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예측 가능?</a:t>
                      </a:r>
                    </a:p>
                  </a:txBody>
                  <a:tcPr marL="73152" marR="73152" marT="36576" marB="36576">
                    <a:solidFill>
                      <a:srgbClr val="0E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73152" marR="73152" marT="36576" marB="36576">
                    <a:solidFill>
                      <a:srgbClr val="0E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No (overlap 0.40)</a:t>
                      </a:r>
                    </a:p>
                  </a:txBody>
                  <a:tcPr marL="73152" marR="73152" marT="36576" marB="36576">
                    <a:solidFill>
                      <a:srgbClr val="0E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의심 (missingness)</a:t>
                      </a:r>
                    </a:p>
                  </a:txBody>
                  <a:tcPr marL="73152" marR="73152" marT="36576" marB="36576">
                    <a:solidFill>
                      <a:srgbClr val="0E346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운영 역할</a:t>
                      </a:r>
                    </a:p>
                  </a:txBody>
                  <a:tcPr marL="73152" marR="73152" marT="36576" marB="36576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Predictive Gate</a:t>
                      </a:r>
                    </a:p>
                  </a:txBody>
                  <a:tcPr marL="73152" marR="73152" marT="36576" marB="36576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Context Classifier</a:t>
                      </a:r>
                    </a:p>
                  </a:txBody>
                  <a:tcPr marL="73152" marR="73152" marT="36576" marB="36576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보조 신호</a:t>
                      </a:r>
                    </a:p>
                  </a:txBody>
                  <a:tcPr marL="73152" marR="73152" marT="36576" marB="36576">
                    <a:solidFill>
                      <a:srgbClr val="1A27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근거</a:t>
                      </a:r>
                    </a:p>
                  </a:txBody>
                  <a:tcPr marL="73152" marR="73152" marT="36576" marB="36576">
                    <a:solidFill>
                      <a:srgbClr val="0E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NB 19-21 검증 통과</a:t>
                      </a:r>
                    </a:p>
                  </a:txBody>
                  <a:tcPr marL="73152" marR="73152" marT="36576" marB="36576">
                    <a:solidFill>
                      <a:srgbClr val="0E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NB 22 pre=실패, post=통과</a:t>
                      </a:r>
                    </a:p>
                  </a:txBody>
                  <a:tcPr marL="73152" marR="73152" marT="36576" marB="36576">
                    <a:solidFill>
                      <a:srgbClr val="0E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NB 23 missingness=1.00</a:t>
                      </a:r>
                    </a:p>
                  </a:txBody>
                  <a:tcPr marL="73152" marR="73152" marT="36576" marB="36576">
                    <a:solidFill>
                      <a:srgbClr val="0E346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결정</a:t>
                      </a:r>
                    </a:p>
                  </a:txBody>
                  <a:tcPr marL="73152" marR="73152" marT="36576" marB="36576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예측 모델로 사용</a:t>
                      </a:r>
                    </a:p>
                  </a:txBody>
                  <a:tcPr marL="73152" marR="73152" marT="36576" marB="36576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사후 분류로 전환</a:t>
                      </a:r>
                    </a:p>
                  </a:txBody>
                  <a:tcPr marL="73152" marR="73152" marT="36576" marB="36576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보조 신호로 보류</a:t>
                      </a:r>
                    </a:p>
                  </a:txBody>
                  <a:tcPr marL="73152" marR="73152" marT="36576" marB="36576">
                    <a:solidFill>
                      <a:srgbClr val="1A274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CCFBF1"/>
                </a:solidFill>
                <a:latin typeface="Calibri"/>
              </a:defRPr>
            </a:pPr>
            <a:r>
              <a:t>"같은 데이터에서 나온 라벨이라도, 시간적 의미가 다르면 같은 모델로 묶을 수 없다"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E293B"/>
                </a:solidFill>
                <a:latin typeface="Calibri"/>
              </a:defRPr>
            </a:pPr>
            <a:r>
              <a:t>Task: 사후 맥락이지, 사전 예측이 아니다 (NB 22)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후보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FPR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Overlap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판정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task_pre_1d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0.80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0.77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0.17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0.40 (40%)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Overlap 과다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task_no_overlap</a:t>
                      </a:r>
                    </a:p>
                  </a:txBody>
                  <a:tcPr marL="73152" marR="73152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0.65</a:t>
                      </a:r>
                    </a:p>
                  </a:txBody>
                  <a:tcPr marL="73152" marR="73152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0.68</a:t>
                      </a:r>
                    </a:p>
                  </a:txBody>
                  <a:tcPr marL="73152" marR="73152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0.37</a:t>
                      </a:r>
                    </a:p>
                  </a:txBody>
                  <a:tcPr marL="73152" marR="73152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 marL="73152" marR="73152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성능 부족</a:t>
                      </a:r>
                    </a:p>
                  </a:txBody>
                  <a:tcPr marL="73152" marR="73152" marT="36576" marB="36576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task_post_1d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통과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통과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통과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사후 분류로 채택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2743200"/>
            <a:ext cx="8229600" cy="18288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293B"/>
                </a:solidFill>
                <a:latin typeface="Calibri"/>
              </a:defRPr>
            </a:pPr>
            <a:r>
              <a:t>왜 Task는 예측이 아닌가?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7863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task_pre_1d: 겉보기 성능은 좋지만 40%가 사건 기간과 겹침 (데이터 누출 위험)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task_no_overlap: overlap 제거 시 BA 0.65로 하락 — 진짜 사전 신호가 약함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task_post_1d: 사후 데이터로는 잘 분류됨 → 본질은 '사후 맥락 분류'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891B2"/>
                </a:solidFill>
                <a:latin typeface="Calibri"/>
              </a:defRPr>
            </a:pPr>
            <a:r>
              <a:t>결정: "task를 예측했다"고 말하면 안 됨. "정비 후 맥락을 분류했다"가 정확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E293B"/>
                </a:solidFill>
                <a:latin typeface="Calibri"/>
              </a:defRPr>
            </a:pPr>
            <a:r>
              <a:t>Activity의 함정: 완벽해 보였지만... (NB 23)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840480" cy="2286000"/>
          </a:xfrm>
          <a:prstGeom prst="roundRect">
            <a:avLst>
              <a:gd name="adj" fmla="val 10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059669"/>
                </a:solidFill>
                <a:latin typeface="Calibri"/>
              </a:defRPr>
            </a:pPr>
            <a:r>
              <a:t>activity_pre_1d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59669"/>
                </a:solidFill>
                <a:latin typeface="Calibri"/>
              </a:defRPr>
            </a:pPr>
            <a:r>
              <a:t>BA 1.00  |  Recall 1.00  |  FPR 0.00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059669"/>
                </a:solidFill>
                <a:latin typeface="Calibri"/>
              </a:defRPr>
            </a:pPr>
            <a:r>
              <a:t>완벽한 성능!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...정말 그럴까?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097280"/>
            <a:ext cx="3840480" cy="2286000"/>
          </a:xfrm>
          <a:prstGeom prst="roundRect">
            <a:avLst>
              <a:gd name="adj" fmla="val 100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234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DC2626"/>
                </a:solidFill>
                <a:latin typeface="Calibri"/>
              </a:defRPr>
            </a:pPr>
            <a:r>
              <a:t>missingness_only 모델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600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DC2626"/>
                </a:solidFill>
                <a:latin typeface="Calibri"/>
              </a:defRPr>
            </a:pPr>
            <a:r>
              <a:t>BA 1.00  |  역시 완벽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1488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DC2626"/>
                </a:solidFill>
                <a:latin typeface="Calibri"/>
              </a:defRPr>
            </a:pPr>
            <a:r>
              <a:t>"센서값이 아니라</a:t>
            </a:r>
            <a:br/>
            <a:r>
              <a:t>어디가 비어 있는지만 봐도</a:t>
            </a:r>
            <a:br/>
            <a:r>
              <a:t>완벽하게 맞춘다"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8229600" cy="109728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결측 feature 제거 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DC2626"/>
                </a:solidFill>
                <a:latin typeface="Calibri"/>
              </a:defRPr>
            </a:pPr>
            <a:r>
              <a:t>BA 1.00 → 0.74로 하락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02336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891B2"/>
                </a:solidFill>
                <a:latin typeface="Calibri"/>
              </a:defRPr>
            </a:pPr>
            <a:r>
              <a:t>결정: activity는 예측 성공이라 말하면 안 됨.</a:t>
            </a:r>
            <a:br/>
            <a:r>
              <a:t>보조 신호(overlap/missingness-sensitive candidate)로만 사용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해법: 계층형 운영 판단 정책 (NB 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0891B2"/>
                </a:solidFill>
                <a:latin typeface="Calibri"/>
              </a:defRPr>
            </a:pPr>
            <a:r>
              <a:t>4분류 모델이 아니라 우선순위 기반 라우팅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051560"/>
            <a:ext cx="365760" cy="36576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05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Fault Gate Positive?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389120" y="1097280"/>
            <a:ext cx="365760" cy="228600"/>
          </a:xfrm>
          <a:prstGeom prst="rightArrow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37760" y="960120"/>
            <a:ext cx="2743200" cy="502920"/>
          </a:xfrm>
          <a:prstGeom prst="roundRect">
            <a:avLst>
              <a:gd name="adj" fmla="val 100000"/>
            </a:avLst>
          </a:prstGeom>
          <a:solidFill>
            <a:srgbClr val="0E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74920" y="1005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059669"/>
                </a:solidFill>
                <a:latin typeface="Calibri"/>
              </a:defRPr>
            </a:pPr>
            <a:r>
              <a:t>predictive_fault_risk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0058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56건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" y="1463040"/>
            <a:ext cx="27432" cy="50292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965960"/>
            <a:ext cx="365760" cy="3657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Task Context Positive?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389120" y="2011680"/>
            <a:ext cx="365760" cy="228600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37760" y="1874520"/>
            <a:ext cx="2743200" cy="502920"/>
          </a:xfrm>
          <a:prstGeom prst="roundRect">
            <a:avLst>
              <a:gd name="adj" fmla="val 100000"/>
            </a:avLst>
          </a:prstGeom>
          <a:solidFill>
            <a:srgbClr val="0E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1920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D97706"/>
                </a:solidFill>
                <a:latin typeface="Calibri"/>
              </a:defRPr>
            </a:pPr>
            <a:r>
              <a:t>maintenance_context_event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19202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42건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2377440"/>
            <a:ext cx="27432" cy="50292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2880360"/>
            <a:ext cx="365760" cy="36576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Activity Candidate?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389120" y="2926080"/>
            <a:ext cx="365760" cy="22860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60" y="2788920"/>
            <a:ext cx="2743200" cy="502920"/>
          </a:xfrm>
          <a:prstGeom prst="roundRect">
            <a:avLst>
              <a:gd name="adj" fmla="val 100000"/>
            </a:avLst>
          </a:prstGeom>
          <a:solidFill>
            <a:srgbClr val="0E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34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0891B2"/>
                </a:solidFill>
                <a:latin typeface="Calibri"/>
              </a:defRPr>
            </a:pPr>
            <a:r>
              <a:t>activity_context_signal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8346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47건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" y="3291840"/>
            <a:ext cx="27432" cy="50292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" y="3794759"/>
            <a:ext cx="365760" cy="36576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389120" y="3840479"/>
            <a:ext cx="36576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0" y="3703320"/>
            <a:ext cx="2743200" cy="502920"/>
          </a:xfrm>
          <a:prstGeom prst="roundRect">
            <a:avLst>
              <a:gd name="adj" fmla="val 100000"/>
            </a:avLst>
          </a:prstGeom>
          <a:solidFill>
            <a:srgbClr val="0E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37490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64748B"/>
                </a:solidFill>
                <a:latin typeface="Calibri"/>
              </a:defRPr>
            </a:pPr>
            <a:r>
              <a:t>normal_or_monitor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749039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34건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CCFBF1"/>
                </a:solidFill>
                <a:latin typeface="Calibri"/>
              </a:defRPr>
            </a:pPr>
            <a:r>
              <a:t>핵심 규칙: fault 우선. 장애 위험이 잡히면 다른 신호가 있어도 fault로 분류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E293B"/>
                </a:solidFill>
                <a:latin typeface="Calibri"/>
              </a:defRPr>
            </a:pPr>
            <a:r>
              <a:t>더 나은 모델을 찾았지만, 채택하지 않았다 (NB 25)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기존 Gate (NB 21)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새 후보 (NB 25)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Recall (장애 탐지)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0.891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0.945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FPR (정상 오탐률)</a:t>
                      </a:r>
                    </a:p>
                  </a:txBody>
                  <a:tcPr marL="73152" marR="73152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0.200</a:t>
                      </a:r>
                    </a:p>
                  </a:txBody>
                  <a:tcPr marL="73152" marR="73152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0.286</a:t>
                      </a:r>
                    </a:p>
                  </a:txBody>
                  <a:tcPr marL="73152" marR="73152" marT="36576" marB="36576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놓친 장애 (FN)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잘못 울린 정상 (FP)</a:t>
                      </a:r>
                    </a:p>
                  </a:txBody>
                  <a:tcPr marL="73152" marR="73152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7건</a:t>
                      </a:r>
                    </a:p>
                  </a:txBody>
                  <a:tcPr marL="73152" marR="73152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10건</a:t>
                      </a:r>
                    </a:p>
                  </a:txBody>
                  <a:tcPr marL="73152" marR="73152" marT="36576" marB="36576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0.845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0.830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3291840"/>
            <a:ext cx="8229600" cy="13716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293B"/>
                </a:solidFill>
                <a:latin typeface="Calibri"/>
              </a:defRPr>
            </a:pPr>
            <a:r>
              <a:t>왜 채택하지 않았는가?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장애 3건을 더 잡는 대신, 정상 3건을 더 잘못 울림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FPR 0.286 → M1 운영 기준(최대 0.25) 초과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핵심: "최고 점수 모델 ≠ 최적 운영 모델"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E293B"/>
                </a:solidFill>
                <a:latin typeface="Calibri"/>
              </a:defRPr>
            </a:pPr>
            <a:r>
              <a:t>최종 Fault Gate Recipe (NB 27)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114800" cy="347472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293B"/>
                </a:solidFill>
                <a:latin typeface="Calibri"/>
              </a:defRPr>
            </a:pPr>
            <a:r>
              <a:t>모델 사양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64748B"/>
                </a:solidFill>
                <a:latin typeface="Calibri"/>
              </a:defRPr>
            </a:pPr>
            <a:r>
              <a:t>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600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fault pre-event risk (efd_possible)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64748B"/>
                </a:solidFill>
                <a:latin typeface="Calibri"/>
              </a:defRPr>
            </a:pPr>
            <a:r>
              <a:t>Window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011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report/fault 이전 7일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64748B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423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compact13_overlap (13개)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64748B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834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Logistic (class_weight=balanced)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46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64748B"/>
                </a:solidFill>
                <a:latin typeface="Calibri"/>
              </a:defRPr>
            </a:pPr>
            <a:r>
              <a:t>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2461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0.6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64748B"/>
                </a:solidFill>
                <a:latin typeface="Calibri"/>
              </a:defRPr>
            </a:pPr>
            <a:r>
              <a:t>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657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fixed eval 49 + expanded 82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097280"/>
            <a:ext cx="3840480" cy="2011680"/>
          </a:xfrm>
          <a:prstGeom prst="roundRect">
            <a:avLst>
              <a:gd name="adj" fmla="val 10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234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059669"/>
                </a:solidFill>
                <a:latin typeface="Calibri"/>
              </a:defRPr>
            </a:pPr>
            <a:r>
              <a:t>성능 지표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1600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64748B"/>
                </a:solidFill>
                <a:latin typeface="Calibri"/>
              </a:defRPr>
            </a:pPr>
            <a:r>
              <a:t>BA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1600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0.85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189280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64748B"/>
                </a:solidFill>
                <a:latin typeface="Calibri"/>
              </a:defRPr>
            </a:pPr>
            <a:r>
              <a:t>Recall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189280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0.786 (14건 중 11건)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18541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64748B"/>
                </a:solidFill>
                <a:latin typeface="Calibri"/>
              </a:defRPr>
            </a:pPr>
            <a:r>
              <a:t>FPR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218541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0.086 (35건 중 3건 오탐)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247802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64748B"/>
                </a:solidFill>
                <a:latin typeface="Calibri"/>
              </a:defRPr>
            </a:pPr>
            <a:r>
              <a:t>FP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24780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3건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27706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64748B"/>
                </a:solidFill>
                <a:latin typeface="Calibri"/>
              </a:defRPr>
            </a:pPr>
            <a:r>
              <a:t>FN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277063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3건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291840"/>
            <a:ext cx="3840480" cy="128016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0" y="3383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059669"/>
                </a:solidFill>
                <a:latin typeface="Calibri"/>
              </a:defRPr>
            </a:pPr>
            <a:r>
              <a:t>Quality Checks: All Passed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36576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4748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Leakage: None</a:t>
            </a:r>
          </a:p>
          <a:p>
            <a:pPr>
              <a:spcAft>
                <a:spcPts val="600"/>
              </a:spcAft>
              <a:defRPr sz="1000" b="0">
                <a:solidFill>
                  <a:srgbClr val="64748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Group overlap: Zero</a:t>
            </a:r>
          </a:p>
          <a:p>
            <a:pPr>
              <a:spcAft>
                <a:spcPts val="600"/>
              </a:spcAft>
              <a:defRPr sz="1000" b="0">
                <a:solidFill>
                  <a:srgbClr val="64748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Hard normal 35/48: FP 0</a:t>
            </a:r>
          </a:p>
          <a:p>
            <a:pPr>
              <a:spcAft>
                <a:spcPts val="600"/>
              </a:spcAft>
              <a:defRPr sz="1000" b="0">
                <a:solidFill>
                  <a:srgbClr val="64748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13번 recipe 재현 성공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E293B"/>
                </a:solidFill>
                <a:latin typeface="Calibri"/>
              </a:defRPr>
            </a:pPr>
            <a:r>
              <a:t>서비스 관점: Agent 입력 구조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59436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31520"/>
                <a:gridCol w="3200400"/>
              </a:tblGrid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필드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타입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의미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fault_probability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float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장애 위험 점수 (0~1)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fault_pred</a:t>
                      </a:r>
                    </a:p>
                  </a:txBody>
                  <a:tcPr marL="73152" marR="73152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bool</a:t>
                      </a:r>
                    </a:p>
                  </a:txBody>
                  <a:tcPr marL="73152" marR="73152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장애 gate 통과 여부</a:t>
                      </a:r>
                    </a:p>
                  </a:txBody>
                  <a:tcPr marL="73152" marR="73152" marT="36576" marB="36576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task_context_probability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float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작업/정비 맥락 점수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activity_candidate_prob</a:t>
                      </a:r>
                    </a:p>
                  </a:txBody>
                  <a:tcPr marL="73152" marR="73152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float</a:t>
                      </a:r>
                    </a:p>
                  </a:txBody>
                  <a:tcPr marL="73152" marR="73152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activity 보조 신호 점수</a:t>
                      </a:r>
                    </a:p>
                  </a:txBody>
                  <a:tcPr marL="73152" marR="73152" marT="36576" marB="36576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final_operational_label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string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최종 운영 라벨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supporting_context_tags</a:t>
                      </a:r>
                    </a:p>
                  </a:txBody>
                  <a:tcPr marL="73152" marR="73152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list</a:t>
                      </a:r>
                    </a:p>
                  </a:txBody>
                  <a:tcPr marL="73152" marR="73152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보조 맥락 태그</a:t>
                      </a:r>
                    </a:p>
                  </a:txBody>
                  <a:tcPr marL="73152" marR="73152" marT="36576" marB="36576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review_required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bool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사람 확인 필요 여부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675120" y="1097280"/>
            <a:ext cx="2011680" cy="2743200"/>
          </a:xfrm>
          <a:prstGeom prst="roundRect">
            <a:avLst>
              <a:gd name="adj" fmla="val 10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12280" y="12344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059669"/>
                </a:solidFill>
                <a:latin typeface="Calibri"/>
              </a:defRPr>
            </a:pPr>
            <a:r>
              <a:t>핵심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155448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정답 하나가 아닌 구조화된 입력</a:t>
            </a:r>
          </a:p>
          <a:p>
            <a:pPr>
              <a:spcAft>
                <a:spcPts val="600"/>
              </a:spcAft>
              <a:defRPr sz="10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운영자 판단 가능</a:t>
            </a:r>
          </a:p>
          <a:p>
            <a:pPr>
              <a:spcAft>
                <a:spcPts val="600"/>
              </a:spcAft>
              <a:defRPr sz="10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review_required는 약점이 아닌 장점</a:t>
            </a:r>
          </a:p>
          <a:p>
            <a:pPr>
              <a:spcAft>
                <a:spcPts val="600"/>
              </a:spcAft>
              <a:defRPr sz="10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불확실한 케이스를 숨기지 않음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1E293B"/>
                </a:solidFill>
                <a:latin typeface="Calibri"/>
              </a:defRPr>
            </a:pPr>
            <a:r>
              <a:t>장점과 한계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3840480" cy="3474720"/>
          </a:xfrm>
          <a:prstGeom prst="roundRect">
            <a:avLst>
              <a:gd name="adj" fmla="val 10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59669"/>
                </a:solidFill>
                <a:latin typeface="Calibri"/>
              </a:defRPr>
            </a:pPr>
            <a:r>
              <a:t>장점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해석 가능: 왜 fault인지, 왜 context인지 분리 설명 가능</a:t>
            </a:r>
          </a:p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운영 기준 존재: recall만 보지 않고 FPR 제약을 둠</a:t>
            </a:r>
          </a:p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라벨 의미 존중: task/activity를 억지로 예측 대상으로 만들지 않음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914400"/>
            <a:ext cx="3840480" cy="347472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0515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64748B"/>
                </a:solidFill>
                <a:latin typeface="Calibri"/>
              </a:defRPr>
            </a:pPr>
            <a:r>
              <a:t>한계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41732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샘플 수 작음 (fault 기준 90건)</a:t>
            </a:r>
          </a:p>
          <a:p>
            <a:pPr>
              <a:spcAft>
                <a:spcPts val="800"/>
              </a:spcAft>
              <a:defRPr sz="12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activity 결측 패턴 의존성</a:t>
            </a:r>
          </a:p>
          <a:p>
            <a:pPr>
              <a:spcAft>
                <a:spcPts val="800"/>
              </a:spcAft>
              <a:defRPr sz="12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threshold 안정성 추가 검토 필요</a:t>
            </a:r>
          </a:p>
          <a:p>
            <a:pPr>
              <a:spcAft>
                <a:spcPts val="800"/>
              </a:spcAft>
              <a:defRPr sz="12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FPR 20%도 실제 운영에선 부담 가능</a:t>
            </a:r>
          </a:p>
          <a:p>
            <a:pPr>
              <a:spcAft>
                <a:spcPts val="800"/>
              </a:spcAft>
              <a:defRPr sz="1200" b="0">
                <a:solidFill>
                  <a:srgbClr val="1E293B"/>
                </a:solidFill>
                <a:latin typeface="Calibri"/>
              </a:defRPr>
              <a:buChar char="•"/>
              <a:buSzPct val="100000"/>
              <a:buFont typeface="Arial"/>
            </a:pPr>
            <a:r>
              <a:t>기계실/기간 확장 시 결과 변동 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1E293B"/>
                </a:solidFill>
                <a:latin typeface="Calibri"/>
              </a:defRPr>
            </a:pPr>
            <a:r>
              <a:t>다음 단계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960120"/>
            <a:ext cx="320040" cy="32004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914400"/>
            <a:ext cx="7680960" cy="64008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960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Fault Gate Threshold 운영 검토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2344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0.45 / 0.50 / 0.55 / 0.60에서 알람 수와 미탐 수 비교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737360"/>
            <a:ext cx="320040" cy="32004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691640"/>
            <a:ext cx="7680960" cy="64008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Activity Relabeling / Missingness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011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activity가 물리적 활동인지 데이터 수집 상태인지 분리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514600"/>
            <a:ext cx="320040" cy="3200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468880"/>
            <a:ext cx="7680960" cy="64008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514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Task Context Feature 정리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788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예측 모델 성능 개선 대상 아님 → 운영 설명 레이어로 유지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291839"/>
            <a:ext cx="320040" cy="3200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3246120"/>
            <a:ext cx="7680960" cy="64008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2918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Agent 입력 Schema 설계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566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fault_probability, context_tags, review_required → Agent 입력 형태 정리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069080"/>
            <a:ext cx="320040" cy="3200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023360"/>
            <a:ext cx="7680960" cy="64008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운영자 피드백 루프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343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FP 7건, FN 6건을 사람이 보면 threshold/feature 해석 조정 가능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27개 모델에서 배운 것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7680960" cy="1097280"/>
          </a:xfrm>
          <a:prstGeom prst="roundRect">
            <a:avLst>
              <a:gd name="adj" fmla="val 100000"/>
            </a:avLst>
          </a:prstGeom>
          <a:solidFill>
            <a:srgbClr val="0E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0891B2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0584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"Feature를 늘리는 것보다</a:t>
            </a:r>
            <a:br/>
            <a:r>
              <a:t>핵심을 고르는 것이 낫다"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70→154: +2.8%  |  154→13: +18%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7680960" cy="1097280"/>
          </a:xfrm>
          <a:prstGeom prst="roundRect">
            <a:avLst>
              <a:gd name="adj" fmla="val 100000"/>
            </a:avLst>
          </a:prstGeom>
          <a:solidFill>
            <a:srgbClr val="0E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D9770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3172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"모든 라벨이 같은 종류의</a:t>
            </a:r>
            <a:br/>
            <a:r>
              <a:t>예측 대상은 아니다"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71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fault=사전위험  |  task=사후맥락  |  activity=결측의존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566160"/>
            <a:ext cx="7680960" cy="1097280"/>
          </a:xfrm>
          <a:prstGeom prst="roundRect">
            <a:avLst>
              <a:gd name="adj" fmla="val 100000"/>
            </a:avLst>
          </a:prstGeom>
          <a:solidFill>
            <a:srgbClr val="0E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059669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65760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"최고 점수 모델이</a:t>
            </a:r>
            <a:br/>
            <a:r>
              <a:t>최적 운영 모델은 아니다"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2976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Recall 0.945 + FPR 0.286 → 기각  |  운영 기준이 우선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M1은 장애 위험을 먼저 잡고,</a:t>
            </a:r>
            <a:br/>
            <a:r>
              <a:t>맥락을 덧붙이는</a:t>
            </a:r>
            <a:br/>
            <a:r>
              <a:t>계층형 운영 판단 정책이다.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2926080"/>
            <a:ext cx="27432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fault gate: 기존 모델 유지  |  task: 사후 맥락  |  activity: 보조 신호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0891B2"/>
                </a:solidFill>
                <a:latin typeface="Calibri"/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